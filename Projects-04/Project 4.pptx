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3.jpg" ContentType="image/png"/>
  <Override PartName="/ppt/media/image4.jpg" ContentType="image/png"/>
  <Override PartName="/ppt/media/image6.jpg" ContentType="image/png"/>
  <Override PartName="/ppt/media/image8.jpg" ContentType="image/png"/>
  <Override PartName="/ppt/media/image9.jpg" ContentType="image/png"/>
  <Override PartName="/ppt/media/image10.jpg" ContentType="image/png"/>
  <Override PartName="/ppt/media/image11.jpg" ContentType="image/png"/>
  <Override PartName="/ppt/media/image13.jpg" ContentType="image/png"/>
  <Override PartName="/ppt/media/image14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6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5865C-0660-4A97-99BA-AECAFAD073EA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E420E-2E15-418C-8529-87BD9C4032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125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5865C-0660-4A97-99BA-AECAFAD073EA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E420E-2E15-418C-8529-87BD9C4032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65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5865C-0660-4A97-99BA-AECAFAD073EA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E420E-2E15-418C-8529-87BD9C4032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27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5865C-0660-4A97-99BA-AECAFAD073EA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E420E-2E15-418C-8529-87BD9C4032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229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5865C-0660-4A97-99BA-AECAFAD073EA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E420E-2E15-418C-8529-87BD9C4032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750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5865C-0660-4A97-99BA-AECAFAD073EA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E420E-2E15-418C-8529-87BD9C4032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641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5865C-0660-4A97-99BA-AECAFAD073EA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E420E-2E15-418C-8529-87BD9C4032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823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5865C-0660-4A97-99BA-AECAFAD073EA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E420E-2E15-418C-8529-87BD9C4032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643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5865C-0660-4A97-99BA-AECAFAD073EA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E420E-2E15-418C-8529-87BD9C4032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00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5865C-0660-4A97-99BA-AECAFAD073EA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E420E-2E15-418C-8529-87BD9C4032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996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5865C-0660-4A97-99BA-AECAFAD073EA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E420E-2E15-418C-8529-87BD9C4032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521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35865C-0660-4A97-99BA-AECAFAD073EA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0E420E-2E15-418C-8529-87BD9C4032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546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55600"/>
            <a:ext cx="11087100" cy="1325563"/>
          </a:xfrm>
        </p:spPr>
        <p:txBody>
          <a:bodyPr>
            <a:normAutofit fontScale="90000"/>
          </a:bodyPr>
          <a:lstStyle/>
          <a:p>
            <a:r>
              <a:rPr lang="en-US" sz="3200" dirty="0" smtClean="0">
                <a:solidFill>
                  <a:schemeClr val="bg1"/>
                </a:solidFill>
                <a:latin typeface="Algerian" panose="04020705040A02060702" pitchFamily="82" charset="0"/>
              </a:rPr>
              <a:t>Project 4: CI/CD using Jenkins + Maven + </a:t>
            </a:r>
            <a:r>
              <a:rPr lang="en-US" sz="3200" dirty="0" err="1" smtClean="0">
                <a:solidFill>
                  <a:schemeClr val="bg1"/>
                </a:solidFill>
                <a:latin typeface="Algerian" panose="04020705040A02060702" pitchFamily="82" charset="0"/>
              </a:rPr>
              <a:t>Ansible</a:t>
            </a:r>
            <a:r>
              <a:rPr lang="en-US" sz="3200" dirty="0" smtClean="0">
                <a:solidFill>
                  <a:schemeClr val="bg1"/>
                </a:solidFill>
                <a:latin typeface="Algerian" panose="04020705040A02060702" pitchFamily="82" charset="0"/>
              </a:rPr>
              <a:t> + </a:t>
            </a:r>
            <a:r>
              <a:rPr lang="en-US" sz="3200" dirty="0" err="1" smtClean="0">
                <a:solidFill>
                  <a:schemeClr val="bg1"/>
                </a:solidFill>
                <a:latin typeface="Algerian" panose="04020705040A02060702" pitchFamily="82" charset="0"/>
              </a:rPr>
              <a:t>Docker</a:t>
            </a:r>
            <a:r>
              <a:rPr lang="en-US" sz="3200" dirty="0" smtClean="0">
                <a:solidFill>
                  <a:schemeClr val="bg1"/>
                </a:solidFill>
                <a:latin typeface="Algerian" panose="04020705040A02060702" pitchFamily="82" charset="0"/>
              </a:rPr>
              <a:t/>
            </a:r>
            <a:br>
              <a:rPr lang="en-US" sz="3200" dirty="0" smtClean="0">
                <a:solidFill>
                  <a:schemeClr val="bg1"/>
                </a:solidFill>
                <a:latin typeface="Algerian" panose="04020705040A02060702" pitchFamily="82" charset="0"/>
              </a:rPr>
            </a:br>
            <a:r>
              <a:rPr lang="en-US" sz="3200" dirty="0" smtClean="0">
                <a:solidFill>
                  <a:schemeClr val="bg1"/>
                </a:solidFill>
                <a:latin typeface="Algerian" panose="04020705040A02060702" pitchFamily="82" charset="0"/>
              </a:rPr>
              <a:t>                                    </a:t>
            </a:r>
            <a:br>
              <a:rPr lang="en-US" sz="3200" dirty="0" smtClean="0">
                <a:solidFill>
                  <a:schemeClr val="bg1"/>
                </a:solidFill>
                <a:latin typeface="Algerian" panose="04020705040A02060702" pitchFamily="82" charset="0"/>
              </a:rPr>
            </a:br>
            <a:r>
              <a:rPr lang="en-US" sz="3200" dirty="0" smtClean="0">
                <a:solidFill>
                  <a:schemeClr val="bg1"/>
                </a:solidFill>
                <a:latin typeface="Algerian" panose="04020705040A02060702" pitchFamily="82" charset="0"/>
              </a:rPr>
              <a:t>                                  Architecture Overview</a:t>
            </a:r>
            <a:endParaRPr lang="en-US" sz="32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725" y="2006600"/>
            <a:ext cx="10515600" cy="4351338"/>
          </a:xfrm>
        </p:spPr>
      </p:pic>
    </p:spTree>
    <p:extLst>
      <p:ext uri="{BB962C8B-B14F-4D97-AF65-F5344CB8AC3E}">
        <p14:creationId xmlns:p14="http://schemas.microsoft.com/office/powerpoint/2010/main" val="450817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308" y="1880559"/>
            <a:ext cx="6686759" cy="4106173"/>
          </a:xfrm>
        </p:spPr>
      </p:pic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425719" y="2122099"/>
            <a:ext cx="4586228" cy="3528203"/>
          </a:xfrm>
        </p:spPr>
        <p:txBody>
          <a:bodyPr>
            <a:normAutofit fontScale="25000" lnSpcReduction="20000"/>
          </a:bodyPr>
          <a:lstStyle/>
          <a:p>
            <a:endParaRPr lang="en-US" sz="20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en-US" sz="9600" b="1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Create Three EC2 Instance Server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9600" b="1" dirty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9600" b="1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Ansible</a:t>
            </a:r>
            <a:r>
              <a:rPr lang="en-US" sz="9600" b="1" dirty="0" smtClean="0">
                <a:solidFill>
                  <a:schemeClr val="bg1"/>
                </a:solidFill>
                <a:latin typeface="Agency FB" panose="020B0503020202020204" pitchFamily="34" charset="0"/>
              </a:rPr>
              <a:t>-Controller  (Amazon Linux)</a:t>
            </a:r>
          </a:p>
          <a:p>
            <a:endParaRPr lang="en-US" sz="9600" b="1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9600" b="1" dirty="0">
                <a:solidFill>
                  <a:schemeClr val="bg1"/>
                </a:solidFill>
                <a:latin typeface="Agency FB" panose="020B0503020202020204" pitchFamily="34" charset="0"/>
              </a:rPr>
              <a:t>Automation-Jenkins  (Amazon Linux</a:t>
            </a:r>
            <a:r>
              <a:rPr lang="en-US" sz="9600" b="1" dirty="0" smtClean="0">
                <a:solidFill>
                  <a:schemeClr val="bg1"/>
                </a:solidFill>
                <a:latin typeface="Agency FB" panose="020B0503020202020204" pitchFamily="34" charset="0"/>
              </a:rPr>
              <a:t>)</a:t>
            </a:r>
          </a:p>
          <a:p>
            <a:endParaRPr lang="en-US" sz="9600" b="1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9600" b="1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Docker</a:t>
            </a:r>
            <a:r>
              <a:rPr lang="en-US" sz="9600" b="1" dirty="0" smtClean="0">
                <a:solidFill>
                  <a:schemeClr val="bg1"/>
                </a:solidFill>
                <a:latin typeface="Agency FB" panose="020B0503020202020204" pitchFamily="34" charset="0"/>
              </a:rPr>
              <a:t>-Host  (Ubuntu Linux)</a:t>
            </a:r>
            <a:endParaRPr lang="en-US" sz="9600" b="1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121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Agency FB" panose="020B0503020202020204" pitchFamily="34" charset="0"/>
              </a:rPr>
              <a:t>Install Jenkins using </a:t>
            </a:r>
            <a:r>
              <a:rPr lang="en-US" dirty="0" err="1">
                <a:solidFill>
                  <a:schemeClr val="bg1"/>
                </a:solidFill>
                <a:latin typeface="Agency FB" panose="020B0503020202020204" pitchFamily="34" charset="0"/>
              </a:rPr>
              <a:t>Ansible</a:t>
            </a:r>
            <a:endParaRPr lang="en-US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25625"/>
            <a:ext cx="5001883" cy="4351338"/>
          </a:xfrm>
        </p:spPr>
      </p:pic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551" y="1857405"/>
            <a:ext cx="5507966" cy="4319558"/>
          </a:xfrm>
        </p:spPr>
      </p:pic>
    </p:spTree>
    <p:extLst>
      <p:ext uri="{BB962C8B-B14F-4D97-AF65-F5344CB8AC3E}">
        <p14:creationId xmlns:p14="http://schemas.microsoft.com/office/powerpoint/2010/main" val="3325024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700177" y="399630"/>
            <a:ext cx="10134600" cy="1325563"/>
          </a:xfrm>
        </p:spPr>
        <p:txBody>
          <a:bodyPr/>
          <a:lstStyle/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Agency FB" panose="020B0503020202020204" pitchFamily="34" charset="0"/>
              </a:rPr>
              <a:t>Install Maven using </a:t>
            </a:r>
            <a:r>
              <a:rPr lang="en-US" dirty="0" err="1">
                <a:solidFill>
                  <a:schemeClr val="bg1"/>
                </a:solidFill>
                <a:latin typeface="Agency FB" panose="020B0503020202020204" pitchFamily="34" charset="0"/>
              </a:rPr>
              <a:t>Ansible</a:t>
            </a:r>
            <a:endParaRPr lang="en-US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71935"/>
            <a:ext cx="5181600" cy="4258717"/>
          </a:xfrm>
        </p:spPr>
      </p:pic>
      <p:pic>
        <p:nvPicPr>
          <p:cNvPr id="15" name="Content Placeholder 14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71935"/>
            <a:ext cx="5181600" cy="4258717"/>
          </a:xfrm>
        </p:spPr>
      </p:pic>
    </p:spTree>
    <p:extLst>
      <p:ext uri="{BB962C8B-B14F-4D97-AF65-F5344CB8AC3E}">
        <p14:creationId xmlns:p14="http://schemas.microsoft.com/office/powerpoint/2010/main" val="1676992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indent="-342900" algn="ctr">
              <a:buFont typeface="Wingdings" panose="05000000000000000000" pitchFamily="2" charset="2"/>
              <a:buChar char="Ø"/>
            </a:pPr>
            <a:r>
              <a:rPr lang="en-US" sz="3600" b="1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Configure Password Authentication </a:t>
            </a:r>
            <a:r>
              <a:rPr lang="en-US" sz="3600" b="1" dirty="0" smtClean="0">
                <a:solidFill>
                  <a:schemeClr val="bg1"/>
                </a:solidFill>
                <a:latin typeface="Agency FB" panose="020B0503020202020204" pitchFamily="34" charset="0"/>
              </a:rPr>
              <a:t>on</a:t>
            </a:r>
            <a:r>
              <a:rPr lang="en-US" sz="3600" b="1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Ubuntu Server</a:t>
            </a:r>
            <a:endParaRPr lang="en-US" sz="3600" b="1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921" y="1825625"/>
            <a:ext cx="8729931" cy="4351338"/>
          </a:xfrm>
        </p:spPr>
      </p:pic>
    </p:spTree>
    <p:extLst>
      <p:ext uri="{BB962C8B-B14F-4D97-AF65-F5344CB8AC3E}">
        <p14:creationId xmlns:p14="http://schemas.microsoft.com/office/powerpoint/2010/main" val="2330716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indent="-457200" algn="ctr">
              <a:buFont typeface="Wingdings" panose="05000000000000000000" pitchFamily="2" charset="2"/>
              <a:buChar char="Ø"/>
            </a:pPr>
            <a:r>
              <a:rPr lang="en-US" sz="3200" b="1" dirty="0" smtClean="0">
                <a:solidFill>
                  <a:schemeClr val="bg1"/>
                </a:solidFill>
                <a:latin typeface="Agency FB" panose="020B0503020202020204" pitchFamily="34" charset="0"/>
              </a:rPr>
              <a:t>Login </a:t>
            </a:r>
            <a:r>
              <a:rPr lang="en-US" sz="3200" b="1" dirty="0">
                <a:solidFill>
                  <a:schemeClr val="bg1"/>
                </a:solidFill>
                <a:latin typeface="Agency FB" panose="020B0503020202020204" pitchFamily="34" charset="0"/>
              </a:rPr>
              <a:t>to </a:t>
            </a:r>
            <a:r>
              <a:rPr lang="en-US" sz="3200" b="1" dirty="0" err="1">
                <a:solidFill>
                  <a:schemeClr val="bg1"/>
                </a:solidFill>
                <a:latin typeface="Agency FB" panose="020B0503020202020204" pitchFamily="34" charset="0"/>
              </a:rPr>
              <a:t>Docker</a:t>
            </a:r>
            <a:r>
              <a:rPr lang="en-US" sz="3200" b="1" dirty="0">
                <a:solidFill>
                  <a:schemeClr val="bg1"/>
                </a:solidFill>
                <a:latin typeface="Agency FB" panose="020B0503020202020204" pitchFamily="34" charset="0"/>
              </a:rPr>
              <a:t> Host Server using </a:t>
            </a:r>
            <a:r>
              <a:rPr lang="en-US" sz="3200" b="1" dirty="0" err="1">
                <a:solidFill>
                  <a:schemeClr val="bg1"/>
                </a:solidFill>
                <a:latin typeface="Agency FB" panose="020B0503020202020204" pitchFamily="34" charset="0"/>
              </a:rPr>
              <a:t>MobaXterm</a:t>
            </a:r>
            <a:endParaRPr lang="en-US" sz="3200" b="1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838201" y="2001327"/>
            <a:ext cx="4242758" cy="4175635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600" dirty="0" smtClean="0">
                <a:solidFill>
                  <a:schemeClr val="bg1"/>
                </a:solidFill>
              </a:rPr>
              <a:t>  </a:t>
            </a:r>
            <a:r>
              <a:rPr lang="en-US" sz="2400" b="1" dirty="0" smtClean="0">
                <a:solidFill>
                  <a:schemeClr val="bg1"/>
                </a:solidFill>
                <a:latin typeface="Agency FB" panose="020B0503020202020204" pitchFamily="34" charset="0"/>
              </a:rPr>
              <a:t>Basic Command Used Here</a:t>
            </a:r>
          </a:p>
          <a:p>
            <a:r>
              <a:rPr lang="en-US" sz="1600" dirty="0" err="1">
                <a:solidFill>
                  <a:schemeClr val="bg1"/>
                </a:solidFill>
              </a:rPr>
              <a:t>s</a:t>
            </a:r>
            <a:r>
              <a:rPr lang="en-US" sz="1600" dirty="0" err="1" smtClean="0">
                <a:solidFill>
                  <a:schemeClr val="bg1"/>
                </a:solidFill>
              </a:rPr>
              <a:t>udo</a:t>
            </a:r>
            <a:r>
              <a:rPr lang="en-US" sz="1600" dirty="0" smtClean="0">
                <a:solidFill>
                  <a:schemeClr val="bg1"/>
                </a:solidFill>
              </a:rPr>
              <a:t> apt update &amp;&amp; </a:t>
            </a:r>
            <a:r>
              <a:rPr lang="en-US" sz="1600" dirty="0" err="1" smtClean="0">
                <a:solidFill>
                  <a:schemeClr val="bg1"/>
                </a:solidFill>
              </a:rPr>
              <a:t>sudo</a:t>
            </a:r>
            <a:r>
              <a:rPr lang="en-US" sz="1600" dirty="0" smtClean="0">
                <a:solidFill>
                  <a:schemeClr val="bg1"/>
                </a:solidFill>
              </a:rPr>
              <a:t> apt-get update</a:t>
            </a:r>
          </a:p>
          <a:p>
            <a:r>
              <a:rPr lang="en-US" sz="1600" dirty="0" err="1">
                <a:solidFill>
                  <a:schemeClr val="bg1"/>
                </a:solidFill>
              </a:rPr>
              <a:t>s</a:t>
            </a:r>
            <a:r>
              <a:rPr lang="en-US" sz="1600" dirty="0" err="1" smtClean="0">
                <a:solidFill>
                  <a:schemeClr val="bg1"/>
                </a:solidFill>
              </a:rPr>
              <a:t>udo</a:t>
            </a:r>
            <a:r>
              <a:rPr lang="en-US" sz="1600" dirty="0" smtClean="0">
                <a:solidFill>
                  <a:schemeClr val="bg1"/>
                </a:solidFill>
              </a:rPr>
              <a:t>  apt install docker.io</a:t>
            </a:r>
          </a:p>
          <a:p>
            <a:r>
              <a:rPr lang="en-US" sz="1600" dirty="0" err="1">
                <a:solidFill>
                  <a:schemeClr val="bg1"/>
                </a:solidFill>
              </a:rPr>
              <a:t>s</a:t>
            </a:r>
            <a:r>
              <a:rPr lang="en-US" sz="1600" dirty="0" err="1" smtClean="0">
                <a:solidFill>
                  <a:schemeClr val="bg1"/>
                </a:solidFill>
              </a:rPr>
              <a:t>udo</a:t>
            </a:r>
            <a:r>
              <a:rPr lang="en-US" sz="1600" dirty="0" smtClean="0">
                <a:solidFill>
                  <a:schemeClr val="bg1"/>
                </a:solidFill>
              </a:rPr>
              <a:t>  </a:t>
            </a:r>
            <a:r>
              <a:rPr lang="en-US" sz="1600" dirty="0" err="1" smtClean="0">
                <a:solidFill>
                  <a:schemeClr val="bg1"/>
                </a:solidFill>
              </a:rPr>
              <a:t>usermod</a:t>
            </a:r>
            <a:r>
              <a:rPr lang="en-US" sz="1600" dirty="0" smtClean="0">
                <a:solidFill>
                  <a:schemeClr val="bg1"/>
                </a:solidFill>
              </a:rPr>
              <a:t> –</a:t>
            </a:r>
            <a:r>
              <a:rPr lang="en-US" sz="1600" dirty="0" err="1" smtClean="0">
                <a:solidFill>
                  <a:schemeClr val="bg1"/>
                </a:solidFill>
              </a:rPr>
              <a:t>aG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docker</a:t>
            </a:r>
            <a:r>
              <a:rPr lang="en-US" sz="1600" dirty="0" smtClean="0">
                <a:solidFill>
                  <a:schemeClr val="bg1"/>
                </a:solidFill>
              </a:rPr>
              <a:t> Ubuntu</a:t>
            </a:r>
          </a:p>
          <a:p>
            <a:r>
              <a:rPr lang="en-US" sz="1600" dirty="0" err="1">
                <a:solidFill>
                  <a:schemeClr val="bg1"/>
                </a:solidFill>
              </a:rPr>
              <a:t>sudo</a:t>
            </a:r>
            <a:r>
              <a:rPr lang="en-US" sz="1600" dirty="0">
                <a:solidFill>
                  <a:schemeClr val="bg1"/>
                </a:solidFill>
              </a:rPr>
              <a:t> hostname </a:t>
            </a:r>
            <a:r>
              <a:rPr lang="en-US" sz="1600" dirty="0" err="1" smtClean="0">
                <a:solidFill>
                  <a:schemeClr val="bg1"/>
                </a:solidFill>
              </a:rPr>
              <a:t>Docker</a:t>
            </a:r>
            <a:r>
              <a:rPr lang="en-US" sz="1600" dirty="0" smtClean="0">
                <a:solidFill>
                  <a:schemeClr val="bg1"/>
                </a:solidFill>
              </a:rPr>
              <a:t>-Host</a:t>
            </a:r>
          </a:p>
          <a:p>
            <a:r>
              <a:rPr lang="en-US" sz="1600" dirty="0" err="1">
                <a:solidFill>
                  <a:schemeClr val="bg1"/>
                </a:solidFill>
              </a:rPr>
              <a:t>s</a:t>
            </a:r>
            <a:r>
              <a:rPr lang="en-US" sz="1600" dirty="0" err="1" smtClean="0">
                <a:solidFill>
                  <a:schemeClr val="bg1"/>
                </a:solidFill>
              </a:rPr>
              <a:t>udo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nano</a:t>
            </a:r>
            <a:r>
              <a:rPr lang="en-US" sz="1600" dirty="0" smtClean="0">
                <a:solidFill>
                  <a:schemeClr val="bg1"/>
                </a:solidFill>
              </a:rPr>
              <a:t> /</a:t>
            </a:r>
            <a:r>
              <a:rPr lang="en-US" sz="1600" dirty="0" err="1" smtClean="0">
                <a:solidFill>
                  <a:schemeClr val="bg1"/>
                </a:solidFill>
              </a:rPr>
              <a:t>etc</a:t>
            </a:r>
            <a:r>
              <a:rPr lang="en-US" sz="1600" dirty="0" smtClean="0">
                <a:solidFill>
                  <a:schemeClr val="bg1"/>
                </a:solidFill>
              </a:rPr>
              <a:t>/hostname</a:t>
            </a:r>
          </a:p>
          <a:p>
            <a:r>
              <a:rPr lang="en-US" sz="1600" dirty="0" err="1" smtClean="0">
                <a:solidFill>
                  <a:schemeClr val="bg1"/>
                </a:solidFill>
              </a:rPr>
              <a:t>sudo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init</a:t>
            </a:r>
            <a:r>
              <a:rPr lang="en-US" sz="1600" dirty="0" smtClean="0">
                <a:solidFill>
                  <a:schemeClr val="bg1"/>
                </a:solidFill>
              </a:rPr>
              <a:t> 6</a:t>
            </a:r>
          </a:p>
          <a:p>
            <a:r>
              <a:rPr lang="en-US" sz="1600" dirty="0" err="1" smtClean="0">
                <a:solidFill>
                  <a:schemeClr val="bg1"/>
                </a:solidFill>
              </a:rPr>
              <a:t>sudo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chown</a:t>
            </a:r>
            <a:r>
              <a:rPr lang="en-US" sz="1600" dirty="0">
                <a:solidFill>
                  <a:schemeClr val="bg1"/>
                </a:solidFill>
              </a:rPr>
              <a:t> -R </a:t>
            </a:r>
            <a:r>
              <a:rPr lang="en-US" sz="1600" dirty="0" err="1" smtClean="0">
                <a:solidFill>
                  <a:schemeClr val="bg1"/>
                </a:solidFill>
              </a:rPr>
              <a:t>ubuntu:Ubuntu</a:t>
            </a:r>
            <a:r>
              <a:rPr lang="en-US" sz="1600" dirty="0" smtClean="0">
                <a:solidFill>
                  <a:schemeClr val="bg1"/>
                </a:solidFill>
              </a:rPr>
              <a:t> /opt</a:t>
            </a:r>
          </a:p>
          <a:p>
            <a:r>
              <a:rPr lang="en-US" sz="1600" dirty="0" smtClean="0">
                <a:solidFill>
                  <a:schemeClr val="bg1"/>
                </a:solidFill>
              </a:rPr>
              <a:t>cd /opt</a:t>
            </a:r>
          </a:p>
          <a:p>
            <a:r>
              <a:rPr lang="en-US" sz="1600" dirty="0" err="1" smtClean="0">
                <a:solidFill>
                  <a:schemeClr val="bg1"/>
                </a:solidFill>
              </a:rPr>
              <a:t>mkdir</a:t>
            </a:r>
            <a:r>
              <a:rPr lang="en-US" sz="1600" dirty="0" smtClean="0">
                <a:solidFill>
                  <a:schemeClr val="bg1"/>
                </a:solidFill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</a:rPr>
              <a:t>Docker</a:t>
            </a:r>
            <a:endParaRPr lang="en-US" sz="1600" dirty="0" smtClean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sudo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chown</a:t>
            </a:r>
            <a:r>
              <a:rPr lang="en-US" sz="1600" dirty="0">
                <a:solidFill>
                  <a:schemeClr val="bg1"/>
                </a:solidFill>
              </a:rPr>
              <a:t> -R </a:t>
            </a:r>
            <a:r>
              <a:rPr lang="en-US" sz="1600" dirty="0" err="1">
                <a:solidFill>
                  <a:schemeClr val="bg1"/>
                </a:solidFill>
              </a:rPr>
              <a:t>ubuntu:ubuntu</a:t>
            </a:r>
            <a:r>
              <a:rPr lang="en-US" sz="1600" dirty="0">
                <a:solidFill>
                  <a:schemeClr val="bg1"/>
                </a:solidFill>
              </a:rPr>
              <a:t> /opt/</a:t>
            </a:r>
            <a:r>
              <a:rPr lang="en-US" sz="1600" dirty="0" err="1">
                <a:solidFill>
                  <a:schemeClr val="bg1"/>
                </a:solidFill>
              </a:rPr>
              <a:t>Docker</a:t>
            </a:r>
            <a:endParaRPr lang="en-US" sz="1600" dirty="0" smtClean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063" y="2113471"/>
            <a:ext cx="6165011" cy="4063491"/>
          </a:xfrm>
        </p:spPr>
      </p:pic>
    </p:spTree>
    <p:extLst>
      <p:ext uri="{BB962C8B-B14F-4D97-AF65-F5344CB8AC3E}">
        <p14:creationId xmlns:p14="http://schemas.microsoft.com/office/powerpoint/2010/main" val="1671912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indent="-457200" algn="ctr">
              <a:buFont typeface="Wingdings" panose="05000000000000000000" pitchFamily="2" charset="2"/>
              <a:buChar char="Ø"/>
            </a:pPr>
            <a:r>
              <a:rPr lang="en-US" sz="3200" b="1" dirty="0" smtClean="0">
                <a:solidFill>
                  <a:schemeClr val="bg1"/>
                </a:solidFill>
                <a:latin typeface="Agency FB" panose="020B0503020202020204" pitchFamily="34" charset="0"/>
              </a:rPr>
              <a:t>Go to the Jenkins Dashboard</a:t>
            </a:r>
            <a:endParaRPr lang="en-US" sz="3200" b="1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254" y="1690688"/>
            <a:ext cx="8365094" cy="4351338"/>
          </a:xfrm>
        </p:spPr>
      </p:pic>
    </p:spTree>
    <p:extLst>
      <p:ext uri="{BB962C8B-B14F-4D97-AF65-F5344CB8AC3E}">
        <p14:creationId xmlns:p14="http://schemas.microsoft.com/office/powerpoint/2010/main" val="1416045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indent="-457200" algn="ctr">
              <a:buFont typeface="Wingdings" panose="05000000000000000000" pitchFamily="2" charset="2"/>
              <a:buChar char="Ø"/>
            </a:pPr>
            <a:r>
              <a:rPr lang="en-US" sz="3200" b="1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3200" b="1" dirty="0">
                <a:solidFill>
                  <a:schemeClr val="bg1"/>
                </a:solidFill>
                <a:latin typeface="Agency FB" panose="020B0503020202020204" pitchFamily="34" charset="0"/>
              </a:rPr>
              <a:t>T</a:t>
            </a:r>
            <a:r>
              <a:rPr lang="en-US" sz="3200" b="1" dirty="0" smtClean="0">
                <a:solidFill>
                  <a:schemeClr val="bg1"/>
                </a:solidFill>
                <a:latin typeface="Agency FB" panose="020B0503020202020204" pitchFamily="34" charset="0"/>
              </a:rPr>
              <a:t>est the Maven Build </a:t>
            </a:r>
            <a:endParaRPr lang="en-US" sz="3200" b="1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925" y="1825625"/>
            <a:ext cx="5717875" cy="4351338"/>
          </a:xfrm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0388" y="1825625"/>
            <a:ext cx="5292305" cy="4351338"/>
          </a:xfrm>
        </p:spPr>
      </p:pic>
    </p:spTree>
    <p:extLst>
      <p:ext uri="{BB962C8B-B14F-4D97-AF65-F5344CB8AC3E}">
        <p14:creationId xmlns:p14="http://schemas.microsoft.com/office/powerpoint/2010/main" val="1028587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5287" y="451389"/>
            <a:ext cx="10515600" cy="1325563"/>
          </a:xfrm>
        </p:spPr>
        <p:txBody>
          <a:bodyPr>
            <a:normAutofit/>
          </a:bodyPr>
          <a:lstStyle/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US" sz="3600" b="1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Connect Jenkins Server with </a:t>
            </a:r>
            <a:r>
              <a:rPr lang="en-US" sz="3600" b="1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Docker</a:t>
            </a:r>
            <a:r>
              <a:rPr lang="en-US" sz="3600" b="1" dirty="0" smtClean="0">
                <a:solidFill>
                  <a:schemeClr val="bg1"/>
                </a:solidFill>
                <a:latin typeface="Agency FB" panose="020B0503020202020204" pitchFamily="34" charset="0"/>
              </a:rPr>
              <a:t>-Host Server</a:t>
            </a:r>
            <a:endParaRPr lang="en-US" sz="3600" b="1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72274"/>
            <a:ext cx="10384766" cy="4351338"/>
          </a:xfrm>
        </p:spPr>
      </p:pic>
    </p:spTree>
    <p:extLst>
      <p:ext uri="{BB962C8B-B14F-4D97-AF65-F5344CB8AC3E}">
        <p14:creationId xmlns:p14="http://schemas.microsoft.com/office/powerpoint/2010/main" val="3649169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indent="-457200" algn="ctr">
              <a:buFont typeface="Wingdings" panose="05000000000000000000" pitchFamily="2" charset="2"/>
              <a:buChar char="Ø"/>
            </a:pPr>
            <a:r>
              <a:rPr lang="en-US" sz="3200" b="1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Create a Jenkins Job to Build and Copy Artifacts to </a:t>
            </a:r>
            <a:r>
              <a:rPr lang="en-US" sz="3200" b="1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Docker</a:t>
            </a:r>
            <a:r>
              <a:rPr lang="en-US" sz="3200" b="1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Server</a:t>
            </a:r>
            <a:endParaRPr lang="en-US" sz="3200" b="1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140" y="1817688"/>
            <a:ext cx="9402791" cy="4351337"/>
          </a:xfrm>
        </p:spPr>
      </p:pic>
    </p:spTree>
    <p:extLst>
      <p:ext uri="{BB962C8B-B14F-4D97-AF65-F5344CB8AC3E}">
        <p14:creationId xmlns:p14="http://schemas.microsoft.com/office/powerpoint/2010/main" val="1480166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indent="-457200" algn="ctr">
              <a:buFont typeface="Wingdings" panose="05000000000000000000" pitchFamily="2" charset="2"/>
              <a:buChar char="Ø"/>
            </a:pPr>
            <a:r>
              <a:rPr lang="en-US" sz="2800" b="1" dirty="0" smtClean="0">
                <a:solidFill>
                  <a:schemeClr val="bg1"/>
                </a:solidFill>
                <a:latin typeface="Agency FB" panose="020B0503020202020204" pitchFamily="34" charset="0"/>
              </a:rPr>
              <a:t>Create </a:t>
            </a:r>
            <a:r>
              <a:rPr lang="en-US" sz="2800" b="1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docker</a:t>
            </a:r>
            <a:r>
              <a:rPr lang="en-US" sz="2800" b="1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File at </a:t>
            </a:r>
            <a:r>
              <a:rPr lang="en-US" sz="2800" b="1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Docker</a:t>
            </a:r>
            <a:r>
              <a:rPr lang="en-US" sz="2800" b="1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Host to Automate Deployment </a:t>
            </a:r>
            <a:endParaRPr lang="en-US" sz="2800" b="1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804" y="1825625"/>
            <a:ext cx="5181600" cy="4132052"/>
          </a:xfrm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894" y="1825625"/>
            <a:ext cx="5181600" cy="4132052"/>
          </a:xfrm>
        </p:spPr>
      </p:pic>
    </p:spTree>
    <p:extLst>
      <p:ext uri="{BB962C8B-B14F-4D97-AF65-F5344CB8AC3E}">
        <p14:creationId xmlns:p14="http://schemas.microsoft.com/office/powerpoint/2010/main" val="3834899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Agency FB" panose="020B0503020202020204" pitchFamily="34" charset="0"/>
              </a:rPr>
              <a:t>Application runs on </a:t>
            </a:r>
            <a:r>
              <a:rPr lang="en-US" b="1" dirty="0" err="1">
                <a:solidFill>
                  <a:schemeClr val="bg1"/>
                </a:solidFill>
                <a:latin typeface="Agency FB" panose="020B0503020202020204" pitchFamily="34" charset="0"/>
              </a:rPr>
              <a:t>Docker</a:t>
            </a:r>
            <a:r>
              <a:rPr lang="en-US" b="1" dirty="0">
                <a:solidFill>
                  <a:schemeClr val="bg1"/>
                </a:solidFill>
                <a:latin typeface="Agency FB" panose="020B0503020202020204" pitchFamily="34" charset="0"/>
              </a:rPr>
              <a:t> container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US" sz="24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Go to the Configure option:- </a:t>
            </a:r>
            <a:r>
              <a:rPr lang="en-US" sz="24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pulish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over SSH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Post build action 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Exec command:-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docker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build –t webapp:v1 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>
                <a:solidFill>
                  <a:schemeClr val="bg1"/>
                </a:solidFill>
                <a:latin typeface="Agency FB" panose="020B0503020202020204" pitchFamily="34" charset="0"/>
              </a:rPr>
              <a:t>d</a:t>
            </a:r>
            <a:r>
              <a:rPr lang="en-US" sz="24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ocker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stop </a:t>
            </a:r>
            <a:r>
              <a:rPr lang="en-US" sz="24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registerapp</a:t>
            </a:r>
            <a:endParaRPr lang="en-US" sz="24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docker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rm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registerapp</a:t>
            </a:r>
            <a:endParaRPr lang="en-US" sz="2400" dirty="0" smtClean="0"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docker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run  -d –name </a:t>
            </a:r>
            <a:r>
              <a:rPr lang="en-US" sz="2400" dirty="0" err="1" smtClean="0">
                <a:solidFill>
                  <a:schemeClr val="bg1"/>
                </a:solidFill>
                <a:latin typeface="Agency FB" panose="020B0503020202020204" pitchFamily="34" charset="0"/>
              </a:rPr>
              <a:t>registerapp</a:t>
            </a:r>
            <a:r>
              <a:rPr lang="en-US" sz="2400" dirty="0" smtClean="0">
                <a:solidFill>
                  <a:schemeClr val="bg1"/>
                </a:solidFill>
                <a:latin typeface="Agency FB" panose="020B0503020202020204" pitchFamily="34" charset="0"/>
              </a:rPr>
              <a:t> –p 8086:8080 webapp:v1   </a:t>
            </a: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208362"/>
            <a:ext cx="5181600" cy="3657599"/>
          </a:xfrm>
        </p:spPr>
      </p:pic>
    </p:spTree>
    <p:extLst>
      <p:ext uri="{BB962C8B-B14F-4D97-AF65-F5344CB8AC3E}">
        <p14:creationId xmlns:p14="http://schemas.microsoft.com/office/powerpoint/2010/main" val="3926590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185</Words>
  <Application>Microsoft Office PowerPoint</Application>
  <PresentationFormat>Widescreen</PresentationFormat>
  <Paragraphs>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Agency FB</vt:lpstr>
      <vt:lpstr>Algerian</vt:lpstr>
      <vt:lpstr>Arial</vt:lpstr>
      <vt:lpstr>Calibri</vt:lpstr>
      <vt:lpstr>Calibri Light</vt:lpstr>
      <vt:lpstr>Wingdings</vt:lpstr>
      <vt:lpstr>Office Theme</vt:lpstr>
      <vt:lpstr>Project 4: CI/CD using Jenkins + Maven + Ansible + Docker                                                                        Architecture Overview</vt:lpstr>
      <vt:lpstr>PowerPoint Presentation</vt:lpstr>
      <vt:lpstr>Install Jenkins using Ansible</vt:lpstr>
      <vt:lpstr>Install Maven using Ansible</vt:lpstr>
      <vt:lpstr>Configure Password Authentication on Ubuntu Server</vt:lpstr>
      <vt:lpstr>Login to Docker Host Server using MobaXterm</vt:lpstr>
      <vt:lpstr>Go to the Jenkins Dashboard</vt:lpstr>
      <vt:lpstr> Test the Maven Build </vt:lpstr>
      <vt:lpstr>Connect Jenkins Server with Docker-Host Server</vt:lpstr>
      <vt:lpstr>Create a Jenkins Job to Build and Copy Artifacts to Docker Server</vt:lpstr>
      <vt:lpstr>Create docker File at Docker Host to Automate Deployment </vt:lpstr>
      <vt:lpstr>Application runs on Docker container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 AZAD</dc:creator>
  <cp:lastModifiedBy>MD AZAD</cp:lastModifiedBy>
  <cp:revision>22</cp:revision>
  <dcterms:created xsi:type="dcterms:W3CDTF">2026-04-01T09:51:08Z</dcterms:created>
  <dcterms:modified xsi:type="dcterms:W3CDTF">2026-04-01T14:42:56Z</dcterms:modified>
</cp:coreProperties>
</file>